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731520"/>
            <a:ext cx="2743200" cy="1527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3774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Integral + Estrategia de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Digital Q2 2026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731520" y="34747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Aguilar Roldán — Coordinadora General de la Jefatura de Gabinete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del Estado de Querétaro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2926080" y="4251960"/>
            <a:ext cx="3291840" cy="32004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926080" y="4251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5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Febrero — Marzo 2026 | CONFIDENCIAL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AEC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Comunicación Digital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Febrero — Marzo 2026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097280" cy="6126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1874520" cy="100584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16,190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 IG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14600" y="960120"/>
            <a:ext cx="1874520" cy="100584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51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1,861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14600" y="1508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 FB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1874520" cy="100584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51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1,867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1508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 TikTok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29400" y="960120"/>
            <a:ext cx="1874520" cy="100584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29400" y="1051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5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29400" y="1508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 X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1874520" cy="100584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194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Total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14600" y="2103120"/>
            <a:ext cx="1874520" cy="100584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14600" y="2194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514600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IG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2103120"/>
            <a:ext cx="1874520" cy="100584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0" y="2194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572000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TikTok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29400" y="2103120"/>
            <a:ext cx="1874520" cy="100584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29400" y="2194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9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282,674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629400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Reprod. TikTok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291840"/>
            <a:ext cx="8229600" cy="1005840"/>
          </a:xfrm>
          <a:prstGeom prst="rect">
            <a:avLst/>
          </a:prstGeom>
          <a:solidFill>
            <a:srgbClr val="F0FAFB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291840"/>
            <a:ext cx="54864" cy="1005840"/>
          </a:xfrm>
          <a:prstGeom prst="rect">
            <a:avLst/>
          </a:prstGeom>
          <a:solidFill>
            <a:srgbClr val="2BAECC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364992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principal: TikTok supera a Instagram en alcance real. Con 8.7× menos seguidores generó 282,674 reproducciones vs ~1,790 interacciones en IG. El ER de TikTok (5.09%) es 25× superior al de Instagram (0.20%).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GROW TOGETHER</a:t>
            </a:r>
            <a:endParaRPr lang="en-US" sz="8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709160"/>
            <a:ext cx="73152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— @lauaguilarro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1874520" cy="100584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16,190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14600" y="960120"/>
            <a:ext cx="1874520" cy="100584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51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14600" y="1508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Totales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1874520" cy="100584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51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5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1508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29400" y="960120"/>
            <a:ext cx="1874520" cy="100584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29400" y="1051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29400" y="1508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Prom.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1874520" cy="100584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194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 Prom.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14600" y="2103120"/>
            <a:ext cx="1874520" cy="100584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14600" y="2194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1,198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514600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Reels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2103120"/>
            <a:ext cx="1874520" cy="100584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0" y="2194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572000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Posts/semana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29400" y="2103120"/>
            <a:ext cx="1874520" cy="100584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29400" y="2194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629400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ER (Reels)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291840"/>
            <a:ext cx="8229600" cy="100584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291840"/>
            <a:ext cx="54864" cy="1005840"/>
          </a:xfrm>
          <a:prstGeom prst="rect">
            <a:avLst/>
          </a:prstGeom>
          <a:solidFill>
            <a:srgbClr val="E5526C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364992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Alerta: ER de 0.20% muy por debajo del benchmark gubernamental (1-3%). Causas: seguidores inactivos, frecuencia excesiva, contenido sin CTAs.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GROW TOGETHER</a:t>
            </a:r>
            <a:endParaRPr lang="en-US" sz="8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709160"/>
            <a:ext cx="73152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— Content Mix y Engagement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4114800" cy="34747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4297680" cy="3474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GROW TOGETHER</a:t>
            </a:r>
            <a:endParaRPr lang="en-US" sz="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709160"/>
            <a:ext cx="73152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— Horarios y Hashtags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22960"/>
            <a:ext cx="5029200" cy="21031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926080"/>
            <a:ext cx="5029200" cy="20116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394960" y="822960"/>
            <a:ext cx="3474720" cy="411480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577840" y="914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Clave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577840" y="1371600"/>
            <a:ext cx="3108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Mejores días: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Mar, Vie, Mié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Mejores horas: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10am-1pm CST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#AquíContigo: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usos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GROW TOGETHER</a:t>
            </a:r>
            <a:endParaRPr lang="en-US" sz="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709160"/>
            <a:ext cx="73152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— @lauaguilarro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1874520" cy="100584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1,867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14600" y="960120"/>
            <a:ext cx="1874520" cy="100584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51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22,400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14600" y="1508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1874520" cy="100584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51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5.09%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1508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29400" y="960120"/>
            <a:ext cx="1874520" cy="100584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29400" y="1051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11,307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29400" y="1508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Reprod. Prom.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1874520" cy="100584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194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9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282,674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Reprod. Totales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14600" y="2103120"/>
            <a:ext cx="1874520" cy="100584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14600" y="2194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514600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Prom.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2103120"/>
            <a:ext cx="1874520" cy="100584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0" y="2194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9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84,500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572000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Video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29400" y="2103120"/>
            <a:ext cx="1874520" cy="100584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29400" y="2194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629400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Totales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291840"/>
            <a:ext cx="8229600" cy="1005840"/>
          </a:xfrm>
          <a:prstGeom prst="rect">
            <a:avLst/>
          </a:prstGeom>
          <a:solidFill>
            <a:srgbClr val="F0FAFB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291840"/>
            <a:ext cx="54864" cy="1005840"/>
          </a:xfrm>
          <a:prstGeom prst="rect">
            <a:avLst/>
          </a:prstGeom>
          <a:solidFill>
            <a:srgbClr val="2BAECC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364992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clave: TikTok genera mayor alcance orgánico. Un video de crianza alcanzó 84,500 reproducciones. El contenido emocional y de territorio es lo que más amplifica.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GROW TOGETHER</a:t>
            </a:r>
            <a:endParaRPr lang="en-US" sz="8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709160"/>
            <a:ext cx="73152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— Top Videos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85953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GROW TOGETHER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709160"/>
            <a:ext cx="73152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Multiplataforma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22960"/>
            <a:ext cx="4389120" cy="27432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822960"/>
            <a:ext cx="4297680" cy="27432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566160"/>
            <a:ext cx="5486400" cy="13716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GROW TOGETHER</a:t>
            </a:r>
            <a:endParaRPr lang="en-US" sz="8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4709160"/>
            <a:ext cx="73152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Listening — Cobertura Editorial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68680"/>
            <a:ext cx="1874520" cy="100584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Menciones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14600" y="868680"/>
            <a:ext cx="1874520" cy="100584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9601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14600" y="14173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Positivas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1874520" cy="100584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9601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14173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29400" y="868680"/>
            <a:ext cx="1874520" cy="100584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29400" y="9601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29400" y="14173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Negativas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Título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Diálogo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Querétaro y la ruta del bien común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Diálogo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Querétaro, el motor invencible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feb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Expreso Qro.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Reafirma trabajo bajo liderazgo de Kuri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feb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Críptica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Refrenda respaldo al proyecto de Kuri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feb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Research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Encuesta rumbo a gubernatura 2027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GROW TOGETHER</a:t>
            </a:r>
            <a:endParaRPr lang="en-US" sz="8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709160"/>
            <a:ext cx="73152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365760" cy="365760"/>
          </a:xfrm>
          <a:prstGeom prst="rect">
            <a:avLst/>
          </a:prstGeom>
          <a:solidFill>
            <a:srgbClr val="2BAEC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Instagram: 0.20%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25272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25× por debajo de TikTok. Problema serio de alcance.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65760" cy="365760"/>
          </a:xfrm>
          <a:prstGeom prst="rect">
            <a:avLst/>
          </a:prstGeom>
          <a:solidFill>
            <a:srgbClr val="2BAEC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7373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TikTok: 282,674 reproducciones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02996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1,867 seguidores. Crianza y territorio amplifican.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65760" cy="365760"/>
          </a:xfrm>
          <a:prstGeom prst="rect">
            <a:avLst/>
          </a:prstGeom>
          <a:solidFill>
            <a:srgbClr val="2BAEC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5146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editorial sólida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80720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8/9 positivas. Columnas no potenciadas en redes.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365760" cy="365760"/>
          </a:xfrm>
          <a:prstGeom prst="rect">
            <a:avLst/>
          </a:prstGeom>
          <a:solidFill>
            <a:srgbClr val="2BAEC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2918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X/Twitter: 0 publicaciones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58444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inactivo en ecosistema político clave.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365760" cy="365760"/>
          </a:xfrm>
          <a:prstGeom prst="rect">
            <a:avLst/>
          </a:prstGeom>
          <a:solidFill>
            <a:srgbClr val="2BAEC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40690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Parrilla actual sin estrategia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36168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mecánico, sin series, sin diferenciación.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GROW TOGETHER</a:t>
            </a:r>
            <a:endParaRPr lang="en-US" sz="8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709160"/>
            <a:ext cx="73152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AEC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Comunicación Digital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 — Junio 2026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097280" cy="6126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Estratégico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F0FAF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914400"/>
          </a:xfrm>
          <a:prstGeom prst="rect">
            <a:avLst/>
          </a:prstGeom>
          <a:solidFill>
            <a:srgbClr val="2BAEC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Posicionar a Laura Aguilar como la servidora pública más cercana a la gente, con resultados verificables y presencia constante en las colonias donde más se necesita, construyendo reconocimiento territorial orgánico a través de comunicación profesional, diferenciada por canal y basada en datos.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977640" cy="105156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2860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alcance en Instagram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6517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0.20% a 1%+ de ER. Llegar a Círculo Rojo.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2194560"/>
            <a:ext cx="3977640" cy="105156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22860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TikTok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26517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propias. 500K reproducciones en Q2.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3977640" cy="105156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5204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X/Twitter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8862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tweets/semana. 500 seguidores cierre Q2.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429000"/>
            <a:ext cx="3977640" cy="105156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35204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Profesionalizar Facebook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38862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informativo. Contenido propio diferenciado.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GROW TOGETHER</a:t>
            </a:r>
            <a:endParaRPr lang="en-US" sz="8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709160"/>
            <a:ext cx="73152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Pilares Estratégicos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1920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1920240" cy="54864"/>
          </a:xfrm>
          <a:prstGeom prst="rect">
            <a:avLst/>
          </a:prstGeom>
          <a:solidFill>
            <a:srgbClr val="2BAEC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Territorio 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Obras, datos duros, rendición de cuentas. Cada acción se comunica con cifra verificable. Inversión en colonias.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960120"/>
            <a:ext cx="1920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960120"/>
            <a:ext cx="1920240" cy="54864"/>
          </a:xfrm>
          <a:prstGeom prst="rect">
            <a:avLst/>
          </a:prstGeom>
          <a:solidFill>
            <a:srgbClr val="E5526C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143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5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651760" y="1645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Mujeres 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28600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Empoderamiento + crianza. Diferenciador único en Querétaro. Lo que más amplifica TikTok.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1920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960120"/>
            <a:ext cx="1920240" cy="54864"/>
          </a:xfrm>
          <a:prstGeom prst="rect">
            <a:avLst/>
          </a:prstGeom>
          <a:solidFill>
            <a:srgbClr val="2F95EA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143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9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0" y="1645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Liderazgo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28600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Al Diálogo y Publimetro como contenido semilla. Autoridad intelectual.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66560" y="960120"/>
            <a:ext cx="1920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960120"/>
            <a:ext cx="19202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1143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58000" y="1645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Contigo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228600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territorial: recorridos, gestiones, entregas, ChocoLau. Marca propia de cercanía.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GROW TOGETHER</a:t>
            </a:r>
            <a:endParaRPr lang="en-US" sz="8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709160"/>
            <a:ext cx="73152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Contenidos — 4 Capas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896112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54864" cy="896112"/>
          </a:xfrm>
          <a:prstGeom prst="rect">
            <a:avLst/>
          </a:prstGeom>
          <a:solidFill>
            <a:srgbClr val="2BAEC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875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98755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base semanal fijo. La estructura permanente.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98755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 AD (martes), Publimetro (jueves), Blog (domingo), Frase (lunes), Trivia (miércoles)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82296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65960"/>
            <a:ext cx="54864" cy="896112"/>
          </a:xfrm>
          <a:prstGeom prst="rect">
            <a:avLst/>
          </a:prstGeom>
          <a:solidFill>
            <a:srgbClr val="2F95E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933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9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2860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9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199339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Vinculado a la agenda operativa: recorridos, entregas, eventos, reuniones.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199339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en colonia, entrega apoyos, evento emprendedoras, jornada Aquí Contigo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896112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71800"/>
            <a:ext cx="54864" cy="896112"/>
          </a:xfrm>
          <a:prstGeom prst="rect">
            <a:avLst/>
          </a:prstGeom>
          <a:solidFill>
            <a:srgbClr val="E5526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9992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5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Estratégico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291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5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0" y="299923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Planificado con objetivo de posicionamiento. Series y microcampañas temáticas mensuales.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0" y="299923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de IG/TikTok, carruseles de cifras, infografías, testimonios editados, antes/después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82296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7640"/>
            <a:ext cx="54864" cy="89611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0050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Coyuntural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297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28800" y="40050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Reactivo a oportunidades: fechas conmemorativas, noticias, trends. Se planifica semanalmente.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0" y="400507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de la Mujer, temporada lluvias, fechas patrias, noticias QRO, trending topics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GROW TOGETHER</a:t>
            </a:r>
            <a:endParaRPr lang="en-US" sz="8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709160"/>
            <a:ext cx="73152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Always On — Laura Aguilar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Mantener presencia constante y predecible. La audiencia sabe qué esperar cada día de la semana.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01168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Línea de contenido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52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Frecuencia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52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526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 Al Diálogo (Reel + carrusel)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1/semana (martes)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Liderazgo de pensamiento y autoridad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 Publimetro (story + repost)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1/semana (jueves)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Presencia en medios y posicionamiento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Blog semanal (story IG)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1/semana (domingo)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Reflexión personal y conexión emocional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Frase + foto profesional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1/semana (lunes)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Humanización y cercanía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Trivia / Interacción (stories)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1/semana (miércoles)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y comunidad activa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Stories diarias (repost + interacción)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5-7/semana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Presencia constante y conversación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 Aquí Contigo (recorridos)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2/semana (agenda)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Posicionamiento territorial y cercanía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GROW TOGETHER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709160"/>
            <a:ext cx="73152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de Contenido — IG y TikTok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estratégico recurrente con identidad propia. Cada serie tiene nombre, formato y frecuencia fija.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8595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645920"/>
                <a:gridCol w="11887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Plataforma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Frecuencia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#AquíContigo: Un día en territorio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+ TikTok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Reel/Video POV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2/semana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Aquí Contigo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#AmarSinMiedo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+ TikTok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 reflexivo + carrusel tips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1/semana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Mujeres y Familias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Mujeres que transforman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+ TikTok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testimonio emprendedora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2/mes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Mujeres y Familias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Cifras que hablan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+ 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Carrusel datos + hilo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1/semana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Territorio y Resultados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y Después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+ TikTok + FB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Carrusel / Reel comparativo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2/mes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Territorio y Resultados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columna de Lau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+ TikTok + 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 + clip + hilo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1/semana (martes)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Liderazgo de Pensamiento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Pregúntale a Lau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Stories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Q&amp;A + encuestas + trivia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1/semana (miércoles)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/ Always 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GROW TOGETHER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709160"/>
            <a:ext cx="73152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y Frecuencia Semanal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14400"/>
          <a:ext cx="8778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97280"/>
                <a:gridCol w="1188720"/>
                <a:gridCol w="1097280"/>
                <a:gridCol w="1097280"/>
                <a:gridCol w="1188720"/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Miércoles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Jueves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Viernes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Sábado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Domingo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Feed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Frase + foto pro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 columna 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Carrusel estratégico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Blog (story)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Stories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+ encuesta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+ quiz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Trivia / Q&amp;A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Publimetro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 interacción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semana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blog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columna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POV territorio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 estratégico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momento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X/Twitter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 columna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Tweet gestión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 + posición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Frase (copy propio)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columna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gestiones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Publimetro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Infografía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blog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semanal: 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Feed 4-5 posts + Stories diarias | TikTok 3-4 videos | X 3-5 tweets | FB 3-4 posts + lives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GROW TOGETHER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709160"/>
            <a:ext cx="73152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Tipo — Laura Aguilar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visual de contenido por semana. La agenda es permanente, las series y lo estratégico se intercalan.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554480"/>
                <a:gridCol w="1554480"/>
                <a:gridCol w="1554480"/>
                <a:gridCol w="1554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(recorridos, entregas, eventos)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■■■■■■■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■■■■■■■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■■■■■■■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■■■■■■■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F95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F95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(Al Diálogo + Publimetro)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95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95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95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95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SERIE: #AquíContigo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552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SERIE: #AmarSinMiedo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552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552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552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552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46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SERIE: Mujeres que transforman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946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946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946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946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SERIE: Cifras que hablan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 COYUNTURAL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ECD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STORIES (diarias)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ECD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■■■■■■■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ECD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■■■■■■■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ECD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■■■■■■■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ECD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■■■■■■■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GROW TOGETHER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709160"/>
            <a:ext cx="73152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Audiencias y Rol por Canal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54864" cy="868680"/>
          </a:xfrm>
          <a:prstGeom prst="rect">
            <a:avLst/>
          </a:prstGeom>
          <a:solidFill>
            <a:srgbClr val="E5526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87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5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2618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+ Círculo Rojo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20240" y="10058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Vecinos de colonias, mujeres 25-55, + líderes de opinión, periodistas y actores políticos. Fotos profesionales en feed. Fotos de recorridos sin diseño.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132320" y="10058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5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 feed + stories diarias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947672"/>
            <a:ext cx="8229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47672"/>
            <a:ext cx="54864" cy="868680"/>
          </a:xfrm>
          <a:prstGeom prst="rect">
            <a:avLst/>
          </a:prstGeom>
          <a:solidFill>
            <a:srgbClr val="2BAEC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751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2494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masivo + jóvenes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20240" y="199339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 18-35, mujeres, madres, jóvenes. Contenido emocional, crianza, territorio. Series con identidad.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32320" y="199339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videos/semana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935224"/>
            <a:ext cx="8229600" cy="86868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35224"/>
            <a:ext cx="54864" cy="8686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962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X/Twitter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23697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político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20240" y="2980944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Periodistas, analistas, actores políticos de Querétaro. Datos, coyuntura, posición informada. Hilos de columnas.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132320" y="2980944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tweets + hilos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922776"/>
            <a:ext cx="8229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22776"/>
            <a:ext cx="54864" cy="868680"/>
          </a:xfrm>
          <a:prstGeom prst="rect">
            <a:avLst/>
          </a:prstGeom>
          <a:solidFill>
            <a:srgbClr val="2F95E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950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9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2245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informativo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0240" y="396849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Adultos 35+, familias. Servicios públicos, lives, rendición de cuentas detallada. Contenido propio (no cross-posting).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132320" y="3968496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9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posts + lives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GROW TOGETHER</a:t>
            </a:r>
            <a:endParaRPr lang="en-US" sz="8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709160"/>
            <a:ext cx="73152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de Mensajes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solidFill>
            <a:srgbClr val="F0FAF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54864" cy="685800"/>
          </a:xfrm>
          <a:prstGeom prst="rect">
            <a:avLst/>
          </a:prstGeom>
          <a:solidFill>
            <a:srgbClr val="2BAEC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Narrativa: </a:t>
            </a:r>
            <a:pPr indent="0" marL="0">
              <a:buNone/>
            </a:pPr>
            <a:r>
              <a:rPr lang="en-US" sz="1200" i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"Donde hay una necesidad, hay una servidora pública que escucha, actúa y da resultados"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3977640" cy="105156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74520"/>
            <a:ext cx="3977640" cy="45720"/>
          </a:xfrm>
          <a:prstGeom prst="rect">
            <a:avLst/>
          </a:prstGeom>
          <a:solidFill>
            <a:srgbClr val="2BAECC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659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Territorio y Resultados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"Escuchamos, actuamos y damos resultados con cifras"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874520"/>
            <a:ext cx="3977640" cy="105156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874520"/>
            <a:ext cx="3977640" cy="45720"/>
          </a:xfrm>
          <a:prstGeom prst="rect">
            <a:avLst/>
          </a:prstGeom>
          <a:solidFill>
            <a:srgbClr val="E5526C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9659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5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Mujeres y Familias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22860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"Querétaro crece cuando sus mujeres crecen"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977640" cy="105156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108960"/>
            <a:ext cx="3977640" cy="45720"/>
          </a:xfrm>
          <a:prstGeom prst="rect">
            <a:avLst/>
          </a:prstGeom>
          <a:solidFill>
            <a:srgbClr val="2F95E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2004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9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Liderazgo de Pensamiento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5204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"Las ideas construyen el Querétaro que merecemos"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108960"/>
            <a:ext cx="3977640" cy="1051560"/>
          </a:xfrm>
          <a:prstGeom prst="rect">
            <a:avLst/>
          </a:prstGeom>
          <a:solidFill>
            <a:srgbClr val="FFF0F3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108960"/>
            <a:ext cx="397764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32004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Contigo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5204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"Aquí seguimos: escuchando y acompañando"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GROW TOGETHER</a:t>
            </a:r>
            <a:endParaRPr lang="en-US" sz="8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709160"/>
            <a:ext cx="73152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Tono y Reglas Operativas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3931920" cy="3931920"/>
          </a:xfrm>
          <a:prstGeom prst="rect">
            <a:avLst/>
          </a:prstGeom>
          <a:solidFill>
            <a:srgbClr val="F0FAF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566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profesionales en posteos de feed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de recorridos SIN diseño (naturales, así solas)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CTAs claros en cada publicación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verificables junto a cada testimonio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persona para conectar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Subtítulos en 100% de videos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comentarios &lt;2h hábiles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diarias con interacción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Repostear feed como story con logo LA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Fondos stories con tonos del catálogo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diferenciado por plataforma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3931920" cy="393192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960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5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280160"/>
            <a:ext cx="3566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 diseño/marcos a fotos de recorridos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Cross-posting idéntico entre plataformas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Frases motivacionales genéricas sin dato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sin objetivo ni CTA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de campaña o grandilocuente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Prometer sin evidencia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Efectos psicodélicos o exceso de filtros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blanco y negro (salvo plan previo)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5 posts feed/semana en IG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críticas o comentarios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pixeleado o de baja calidad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GROW TOGETHER</a:t>
            </a:r>
            <a:endParaRPr lang="en-US" sz="8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709160"/>
            <a:ext cx="73152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 2026 — Semana del 15 al 21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5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operación estratégica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24128"/>
          <a:ext cx="87782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685800"/>
                <a:gridCol w="1554480"/>
                <a:gridCol w="1280160"/>
                <a:gridCol w="1371600"/>
                <a:gridCol w="118872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Feed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Stories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Sáb 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Foto recorrido colonia (sin diseño)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en vivo + poll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POV: llegando a colonia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Álbum fotos naturales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 16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Blog (story)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blog + pregunta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blog completo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 17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Frase: mujeres de Querétaro (foto pro)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Encuesta: ¿qué mujer te inspira?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Frase (diferente copy)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18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 columna Al Diálogo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Behind scenes: escribiendo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dato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 columna semanal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Mié 19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Estratégico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Trivia stories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Q&amp;A: Pregúntale a Lau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Video: #AmarSinMiedo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Jue 20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Publimetro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Publimetro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 21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Estratégico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Carrusel: cifras gestiones territorio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CTA: comparte con tu vecino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Reel: antes/después obra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Dato: inversión en colonias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Infografía obras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 2026 — Semana del 22 al 28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14400"/>
          <a:ext cx="87782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685800"/>
                <a:gridCol w="1554480"/>
                <a:gridCol w="1280160"/>
                <a:gridCol w="1371600"/>
                <a:gridCol w="118872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Feed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Stories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Sáb 22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Aquí Contigo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Foto recorrido Menchaca (sin diseño)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en vivo entrega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POV: jornada territorio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Post: servicios disponibles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 23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Blog (story)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blog + reflexión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blog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 24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Estratégico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Frase: niñas y autoestima (foto pro)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Encuesta crianza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Video: #AmarSinMiedo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Reflexión crianza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Frase + imagen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 columna Al Diálogo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+ quiz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dato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Mié 26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Trivia (stories)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Q&amp;A: Pregúntale a Lau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Jue 27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Publimetro + encuesta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Publimetro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 28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Carrusel: resumen marzo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CTA: guarda datos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Compilación mejores momentos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Hilo: 5 datos del mes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 mensual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 2026 — Cierre de mes (29-31)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14400"/>
          <a:ext cx="87782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685800"/>
                <a:gridCol w="1554480"/>
                <a:gridCol w="1280160"/>
                <a:gridCol w="1371600"/>
                <a:gridCol w="118872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Feed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Stories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Sáb 29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mejor contenido semana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Video: momento territorio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 30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Coyuntural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Story: ¿qué viene en abril?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 31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Estratégico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Carrusel: 'Lo que logramos en marzo'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CTA: guarda y comparte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Video: cierre mes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Tweet: balance marzo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Post: informe mensual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 — Semana 1 (1-6)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5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Microcampaña: Mujeres que transforman su comunidad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24128"/>
          <a:ext cx="87782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685800"/>
                <a:gridCol w="1554480"/>
                <a:gridCol w="1280160"/>
                <a:gridCol w="1371600"/>
                <a:gridCol w="118872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Feed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Stories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 columna Al Diálogo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+ quiz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dato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Mié 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Aquí Contigo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Foto recorrido (sin diseño)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en vivo recorrido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POV: llegando a colonia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Tweet: gestión + cifra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Post: gestiones resueltas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Jue 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Publimetro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Publimetro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 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Estratégico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Carrusel: Cifras que hablan (obras)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CTA: comparte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Reel: antes/después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Hilo: inversión en colonias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Infografía avance obras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Sáb 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Foto evento emprendedoras (sin diseño)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en vivo evento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Video: Mujeres que transforman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 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Blog (story)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blog + pregunta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blog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 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Estratégico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Reel: historia emprendedora (foto pro)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Encuesta: ¿emprendes?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Video: Mujeres que transforman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Tweet: dato mujeres QRO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Post: talleres abiertos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 — Semana 2 (8-13)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14400"/>
          <a:ext cx="87782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685800"/>
                <a:gridCol w="1554480"/>
                <a:gridCol w="1280160"/>
                <a:gridCol w="1371600"/>
                <a:gridCol w="118872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Feed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Stories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 columna Al Diálogo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+ quiz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Mié 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Estratégico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Trivia: #AmarSinMiedo (stories)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Q&amp;A: Pregúntale a Lau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Video: crianza con amor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Post: Centro Empoderamiento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Jue 10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Publimetro + encuesta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Publimetro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 11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Estratégico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Infografía: gestiones resueltas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CTA: guarda datos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Reel: testimonio vecino real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Dato: gestiones abril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Post: contacto directo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Sáb 12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Aquí Contigo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Foto recorrido (sin diseño)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en vivo + poll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Behind scenes: jornada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Álbum fotos naturales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 13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Blog (story)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blog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blog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 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Estratégico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Frase: mamás y crianza (foto pro)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Encuesta: tips crianza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Reflexión maternidad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Frase + imagen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 — Semana 3 (15-20)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14400"/>
          <a:ext cx="87782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685800"/>
                <a:gridCol w="1554480"/>
                <a:gridCol w="1280160"/>
                <a:gridCol w="1371600"/>
                <a:gridCol w="118872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Feed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Stories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 columna Al Diálogo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feed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Mié 16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Aquí Contigo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Foto entrega colonia (sin diseño)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en vivo entrega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POV: preparando entregas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Tweet: entrega + cifra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Post: familias atendidas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Jue 17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Publimetro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Publimetro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 18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Estratégico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Carrusel: rendición quincenal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CTA: comparte con vecinos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Reel: dato impactante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Hilo: 10 datos quincena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Resumen quincenal cifras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Sáb 19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mejor contenido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Video: momento territorio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 20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Blog (story)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blog + pregunta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blog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 21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Estratégico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Carrusel: #AmarSinMiedo tips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Q&amp;A: crianza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Video: testimonio mamá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Dato: mujeres capacitadas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Post: inscripciones talleres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 — Semana 4 (22-27)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14400"/>
          <a:ext cx="87782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685800"/>
                <a:gridCol w="1554480"/>
                <a:gridCol w="1280160"/>
                <a:gridCol w="1371600"/>
                <a:gridCol w="118872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Feed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Stories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 columna Al Diálogo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+ quiz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dato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Mié 23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Aquí Contigo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Foto recorrido (sin diseño)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en vivo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POV: territorio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Tweet: gestión + dato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Post: gestiones resueltas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Jue 24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Publimetro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Publimetro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 25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Carrusel: 'Lo que logramos en abril'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CTA: guarda y comparte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Compilación mejores momentos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Hilo: 5 logros mes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 mensual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Sáb 26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Coyuntural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Countdown mayo + sticker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Teaser: lo que viene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 27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Blog (story)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blog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blog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 28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Estratégico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Reel: mamás de Querétaro (foto pro)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Countdown 10 mayo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Video: ser mamá y servidora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Reflexión maternidad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Post: evento Día Madres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 — Semana 1 (29 abr-4 may)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5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Microcampaña: Familias fuertes, comunidades que crecen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24128"/>
          <a:ext cx="87782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685800"/>
                <a:gridCol w="1554480"/>
                <a:gridCol w="1280160"/>
                <a:gridCol w="1371600"/>
                <a:gridCol w="118872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Feed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Stories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 columna Al Diálogo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+ quiz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Mié 30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Aquí Contigo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Foto entrega mamás (sin diseño)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en vivo entrega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POV: preparando entregas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Tweet: cifras Aquí Contigo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Cronograma entregas mayo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Jue 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Publimetro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Publimetro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 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Estratégico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Carrusel: historias mamás QRO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CTA: etiqueta a tu mamá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Video: testimonio mamá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Hilo: mujeres cabeza hogar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Infografía servicios mamás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Sáb 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Foto personal: mamá Laura (foto pro)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personal + música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Video: momento familiar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 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Blog (story)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blog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blog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 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Coyuntural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Reel: evento Día Madres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en vivo evento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Video: mamás celebrando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Tweet: 10 mayo + dato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Álbum: evento completo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 — Semana 2 (6-11)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14400"/>
          <a:ext cx="87782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685800"/>
                <a:gridCol w="1554480"/>
                <a:gridCol w="1280160"/>
                <a:gridCol w="1371600"/>
                <a:gridCol w="118872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Feed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Stories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 columna Al Diálogo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feed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Mié 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Estratégico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Carrusel: Cifras que hablan (obras mayo)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CTA: comparte progreso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Reel: vecinos opinan obra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Hilo: inversión acumulada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Infografía obras Q2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Jue 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Publimetro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Publimetro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 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Aquí Contigo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Foto recorrido (sin diseño)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en vivo recorrido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POV: jornada territorio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Tweet resultado gestión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Post: servicios disponibles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Sáb 10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Coyuntural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Felicitación Día Madres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Video: gracias mamás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Tweet: 10 mayo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Post: homenaje mamás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 11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Blog (story)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blog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blog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 12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Estratégico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Reel: taller emprendedoras (foto pro)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Encuesta: ¿te capacitas?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Video: #AmarSinMiedo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Dato: mujeres capacitadas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Post: inscripciones talleres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 — Semana 3 (13-18)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14400"/>
          <a:ext cx="87782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685800"/>
                <a:gridCol w="1554480"/>
                <a:gridCol w="1280160"/>
                <a:gridCol w="1371600"/>
                <a:gridCol w="118872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Feed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Stories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13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 columna Al Diálogo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+ quiz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Mié 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Aquí Contigo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Foto recorrido (sin diseño)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en vivo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Behind scenes: jornada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Tweet gestión + foto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Resumen semanal gestiones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Jue 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Publimetro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Publimetro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 16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Estratégico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Infografía: rendición quincenal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CTA: guarda datos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Reel: dato impactante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Hilo: datos quincena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Post: contacto directo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Sáb 17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mejor contenido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Video: momento territorio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 18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Blog (story)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blog + pregunta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blog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 19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Aquí Contigo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Reel: jornada colonia (foto pro)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en vivo + poll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POV: preparación jornada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Tweet: resultado + cifra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Álbum: familias beneficiadas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 — Semana 4 + Cierre (20-31)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14400"/>
          <a:ext cx="87782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685800"/>
                <a:gridCol w="1554480"/>
                <a:gridCol w="1280160"/>
                <a:gridCol w="1371600"/>
                <a:gridCol w="118872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Feed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Stories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 columna Al Diálogo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feed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Mié 21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Estratégico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Carrusel: Cifras que hablan (datos QRO)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CTA: ¿sabías esto?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Reel: cifra impactante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Hilo: 3 meses resultados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Post: datos + contacto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Jue 22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Publimetro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Publimetro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 23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Carrusel: lo que logramos en mayo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CTA: guarda y comparte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Compilación mejores momentos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 5 datos del mes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 mensual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Sáb 24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+ sticker preguntas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 25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Blog (story)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blog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blog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 26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Estratégico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Carrusel: rendición Q2 datos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Encuesta: ¿notaste cambios?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Reel: 'Lo que cambió en tu colonia'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Hilo: cifras Q2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Post: informe semestral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2026 — Semana 1 (27 may-1 jun)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5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Microcampaña: Resultados que se ven, gobierno que se siente</a:t>
            </a:r>
            <a:endParaRPr lang="en-US" sz="1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24128"/>
          <a:ext cx="87782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685800"/>
                <a:gridCol w="1554480"/>
                <a:gridCol w="1280160"/>
                <a:gridCol w="1371600"/>
                <a:gridCol w="118872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Feed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Stories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 columna Al Diálogo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+ quiz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Mié 28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Aquí Contigo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Foto recorrido (sin diseño)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en vivo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POV: territorio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Tweet: gestión + dato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Post: servicios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Jue 29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Publimetro + poll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Publimetro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 30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Estratégico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Reel: testimonios mujeres graduadas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CTA: etiqueta mujer fuerte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Video: graduación talleres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Dato: impacto mujeres Q2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Live: cierre trimestral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Sáb 31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+ countdown junio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 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Blog (story)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blog + pregunta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blog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 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Aquí Contigo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Reel: jornada especial (foto pro)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en vivo + quiz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POV: preparación jornada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Tweet: colonia + cifra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Álbum familias Q2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2026 — Semana 2 (3-8)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14400"/>
          <a:ext cx="87782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685800"/>
                <a:gridCol w="1554480"/>
                <a:gridCol w="1280160"/>
                <a:gridCol w="1371600"/>
                <a:gridCol w="118872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Feed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Stories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 columna Al Diálogo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feed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Mié 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Estratégico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Carrusel: posición tema estatal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CTA: ¿qué opinas?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Video: dato coyuntura QRO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Hilo: posición informada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Post: análisis detallado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Jue 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Publimetro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Publimetro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 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Coyuntural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Foto: prep temporada lluvias (sin diseño)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Story: tips prevención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Video: protocolo familias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Tweet: acciones preventivas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Post: directorio emergencias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Sáb 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+ sticker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 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Blog (story)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blog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blog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 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Estratégico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Infografía: antes/después colonias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Encuesta: ¿notaste cambios?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Reel: vecinos cuentan cambio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Dato: avance obras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Post: preparación contingencia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2026 — Semana 3 (10-15)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14400"/>
          <a:ext cx="87782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685800"/>
                <a:gridCol w="1554480"/>
                <a:gridCol w="1280160"/>
                <a:gridCol w="1371600"/>
                <a:gridCol w="118872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Feed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Stories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10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 columna Al Diálogo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+ quiz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Mié 11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Aquí Contigo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Foto recorrido prevención (sin diseño)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en vivo prevención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POV: revisión colonias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Tweet: acción preventiva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Post: protocolo familiar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Jue 12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Publimetro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Publimetro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 13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Estratégico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Carrusel: rendición quincenal junio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CTA: guarda y comparte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Reel: cifra impactante Q2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Hilo: datos quincena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Resumen quincenal cifras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Sáb 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mejor contenido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 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Blog (story)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blog + pregunta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blog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 16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Estratégico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Reel: visión segundo semestre (foto pro)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Countdown cierre Q2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Video: 'Lo que viene'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Posición: agenda 2° semestre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Live: rendición Q2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2026 — Cierre Q2 (17-22)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14400"/>
          <a:ext cx="87782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685800"/>
                <a:gridCol w="1554480"/>
                <a:gridCol w="1280160"/>
                <a:gridCol w="1371600"/>
                <a:gridCol w="118872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Feed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Stories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17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 columna Al Diálogo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feed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columna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Mié 18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Aquí Contigo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Foto último recorrido Q2 (sin diseño)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en vivo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POV: cierre trimestral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Tweet: gestión + gratitud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Post: balance gestiones Q2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Jue 19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Publimetro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Publimetro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 20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Resumen Q2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Carrusel: 'Así fue nuestro Q2'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CTA: guarda y comparte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Compilación mejores momentos Q2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Hilo: 10 logros trimestre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 trimestral completo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Sáb 21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mejor del Q2 + sticker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Teaser: ¿qué viene en Q3?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 22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Blog cierre Q2 (story)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Repost + reflexión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Reflexión cierre trimestre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blog + resumen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y Métricas de Éxito — Q2 2026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011680"/>
                <a:gridCol w="1645920"/>
                <a:gridCol w="164592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Plataforma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(Mar)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(Jun)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E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Seguidores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16,190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Likes promedio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Reprod. totales/mes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141,337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Seguidores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X/Twitter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Seguidores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+488%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X/Twitter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Tweets/semana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Activación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Seguidores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1,861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AE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 propio/mes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Diferenciación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GROW TOGETHER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709160"/>
            <a:ext cx="73152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822960"/>
          </a:xfrm>
          <a:prstGeom prst="rect">
            <a:avLst/>
          </a:prstGeom>
          <a:solidFill>
            <a:srgbClr val="E5526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5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marzo (arranque)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pilares y narrativa. Activar X/Twitter. Lineamientos visuales. Highlights IG. Briefing equipo.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65960"/>
            <a:ext cx="54864" cy="822960"/>
          </a:xfrm>
          <a:prstGeom prst="rect">
            <a:avLst/>
          </a:prstGeom>
          <a:solidFill>
            <a:srgbClr val="2BAEC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11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S3-4 Marzo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primera parrilla diaria. Series activas. Stories diarias. Primer contenido diferenciado.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26080"/>
            <a:ext cx="54864" cy="822960"/>
          </a:xfrm>
          <a:prstGeom prst="rect">
            <a:avLst/>
          </a:prstGeom>
          <a:solidFill>
            <a:srgbClr val="2F95E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71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9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246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Microcampaña 'Mujeres que transforman'. Parrilla diaria completa. Primer informe mensual con métricas.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886200"/>
            <a:ext cx="54864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31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Mayo-Junio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2062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Microcampañas activas. Reportes quincenales. Rendición Q2. Evaluación y ajuste para Q3.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GROW TOGETHER</a:t>
            </a:r>
            <a:endParaRPr lang="en-US" sz="8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709160"/>
            <a:ext cx="73152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1371600"/>
            <a:ext cx="3657600" cy="20391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GROW TOGETHER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growmkt.mx | Documento confidencial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Laura Aguilar Q2 2026</dc:title>
  <dc:subject>PptxGenJS Presentation</dc:subject>
  <dc:creator>GROW</dc:creator>
  <cp:lastModifiedBy>GROW</cp:lastModifiedBy>
  <cp:revision>1</cp:revision>
  <dcterms:created xsi:type="dcterms:W3CDTF">2026-03-11T01:49:20Z</dcterms:created>
  <dcterms:modified xsi:type="dcterms:W3CDTF">2026-03-11T01:49:20Z</dcterms:modified>
</cp:coreProperties>
</file>